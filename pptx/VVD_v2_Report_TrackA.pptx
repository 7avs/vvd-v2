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VVD Campaign Measurement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7EEF1"/>
                </a:solidFill>
                <a:latin typeface="Segoe UI"/>
              </a:defRPr>
            </a:pPr>
            <a:r>
              <a:t>Virtual Visa Debit — v2 Analysis | 6 Campaigns | 2024-2026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560320" cy="118872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5,020,727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Total Clients (Action)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371600"/>
            <a:ext cx="2560320" cy="118872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7AFBF"/>
                </a:solidFill>
                <a:latin typeface="Segoe UI"/>
              </a:defRPr>
            </a:pPr>
            <a:r>
              <a:t>+1.10pp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Avg Lift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2560320" cy="118872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5 / 6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Campaigns Significant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371600"/>
            <a:ext cx="2560320" cy="118872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6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Campaigns Measured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926080"/>
          <a:ext cx="1124712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4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Campaign</a:t>
                      </a:r>
                    </a:p>
                  </a:txBody>
                  <a:tcPr anchor="ctr">
                    <a:solidFill>
                      <a:srgbClr val="003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Clients (Action)</a:t>
                      </a:r>
                    </a:p>
                  </a:txBody>
                  <a:tcPr anchor="ctr">
                    <a:solidFill>
                      <a:srgbClr val="003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Action Rate</a:t>
                      </a:r>
                    </a:p>
                  </a:txBody>
                  <a:tcPr anchor="ctr">
                    <a:solidFill>
                      <a:srgbClr val="003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Control Rate</a:t>
                      </a:r>
                    </a:p>
                  </a:txBody>
                  <a:tcPr anchor="ctr">
                    <a:solidFill>
                      <a:srgbClr val="003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Lift (pp)</a:t>
                      </a:r>
                    </a:p>
                  </a:txBody>
                  <a:tcPr anchor="ctr">
                    <a:solidFill>
                      <a:srgbClr val="003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p-value</a:t>
                      </a:r>
                    </a:p>
                  </a:txBody>
                  <a:tcPr anchor="ctr">
                    <a:solidFill>
                      <a:srgbClr val="003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Sig.</a:t>
                      </a:r>
                    </a:p>
                  </a:txBody>
                  <a:tcPr anchor="ctr">
                    <a:solidFill>
                      <a:srgbClr val="00316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VCN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2,166,516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0.59%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0.39%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7AFBF"/>
                          </a:solidFill>
                          <a:latin typeface="Segoe UI"/>
                        </a:defRPr>
                      </a:pPr>
                      <a:r>
                        <a:t>+0.20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0.0001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VDA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59,211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0.80%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0.48%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7AFBF"/>
                          </a:solidFill>
                          <a:latin typeface="Segoe UI"/>
                        </a:defRPr>
                      </a:pPr>
                      <a:r>
                        <a:t>+0.32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0.0001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VDT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385,000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58.20%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54.10%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7AFBF"/>
                          </a:solidFill>
                          <a:latin typeface="Segoe UI"/>
                        </a:defRPr>
                      </a:pPr>
                      <a:r>
                        <a:t>+4.10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0.0001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VUI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1,200,000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12.50%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11.80%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7AFBF"/>
                          </a:solidFill>
                          <a:latin typeface="Segoe UI"/>
                        </a:defRPr>
                      </a:pPr>
                      <a:r>
                        <a:t>+0.70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0.0230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*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VUT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890,000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3.10%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3.40%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CA311"/>
                          </a:solidFill>
                          <a:latin typeface="Segoe UI"/>
                        </a:defRPr>
                      </a:pPr>
                      <a:r>
                        <a:t>-0.30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0.1500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VAW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320,000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5.80%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4.20%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7AFBF"/>
                          </a:solidFill>
                          <a:latin typeface="Segoe UI"/>
                        </a:defRPr>
                      </a:pPr>
                      <a:r>
                        <a:t>+1.60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0.0001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303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168"/>
                </a:solidFill>
                <a:latin typeface="Segoe UI"/>
              </a:defRPr>
            </a:pPr>
            <a:r>
              <a:t>Key 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5778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Segoe UI"/>
              </a:defRPr>
            </a:pPr>
            <a:r>
              <a:t>VCN &amp; VDA (acquisition): Consistent positive lift — continue campaigns</a:t>
            </a:r>
          </a:p>
          <a:p>
            <a:pPr>
              <a:defRPr sz="1000">
                <a:solidFill>
                  <a:srgbClr val="333333"/>
                </a:solidFill>
                <a:latin typeface="Segoe UI"/>
              </a:defRPr>
            </a:pPr>
            <a:r>
              <a:t>VDT (activation): Strong lift but small addressable population (~5% need activation)</a:t>
            </a:r>
          </a:p>
          <a:p>
            <a:pPr>
              <a:defRPr sz="1000">
                <a:solidFill>
                  <a:srgbClr val="333333"/>
                </a:solidFill>
                <a:latin typeface="Segoe UI"/>
              </a:defRPr>
            </a:pPr>
            <a:r>
              <a:t>VUI (usage): Marginal lift — optimization opportunity</a:t>
            </a:r>
          </a:p>
          <a:p>
            <a:pPr>
              <a:defRPr sz="1000">
                <a:solidFill>
                  <a:srgbClr val="333333"/>
                </a:solidFill>
                <a:latin typeface="Segoe UI"/>
              </a:defRPr>
            </a:pPr>
            <a:r>
              <a:t>VUT (tokenization): Negative ROI — recommend discontinuation</a:t>
            </a:r>
          </a:p>
          <a:p>
            <a:pPr>
              <a:defRPr sz="1000">
                <a:solidFill>
                  <a:srgbClr val="333333"/>
                </a:solidFill>
                <a:latin typeface="Segoe UI"/>
              </a:defRPr>
            </a:pPr>
            <a:r>
              <a:t>VAW (add to wallet): Positive lift at scale — expand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3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Card Acquisition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37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E7EEF1"/>
                </a:solidFill>
                <a:latin typeface="Segoe UI"/>
              </a:defRPr>
            </a:pPr>
            <a:r>
              <a:t>VCN — Contextual Notification | VDA — Black Friday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612880" cy="274320"/>
          </a:xfrm>
          <a:prstGeom prst="rect">
            <a:avLst/>
          </a:prstGeom>
          <a:solidFill>
            <a:srgbClr val="005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VCN — Contextual Notification</a:t>
            </a:r>
          </a:p>
        </p:txBody>
      </p:sp>
      <p:pic>
        <p:nvPicPr>
          <p:cNvPr id="7" name="Picture 6" descr="VCN_vintage_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5943600" cy="2103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0" y="1143000"/>
            <a:ext cx="1645920" cy="82296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7AFBF"/>
                </a:solidFill>
                <a:latin typeface="Segoe UI"/>
              </a:defRPr>
            </a:pPr>
            <a:r>
              <a:t>+0.20pp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Lift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143000"/>
            <a:ext cx="1645920" cy="82296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0.59%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Action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0" y="1143000"/>
            <a:ext cx="1645920" cy="82296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0.39%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Control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103120"/>
            <a:ext cx="1645920" cy="82296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7AFBF"/>
                </a:solidFill>
                <a:latin typeface="Segoe UI"/>
              </a:defRPr>
            </a:pPr>
            <a:r>
              <a:t>0.0001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p-value</a:t>
            </a:r>
          </a:p>
          <a:p>
            <a:pPr algn="ctr">
              <a:defRPr sz="800">
                <a:solidFill>
                  <a:srgbClr val="999999"/>
                </a:solidFill>
                <a:latin typeface="Segoe UI"/>
              </a:defRPr>
            </a:pPr>
            <a:r>
              <a:t>***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103120"/>
            <a:ext cx="3474720" cy="82296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2,166,516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Clients (Action)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9718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  <a:latin typeface="Segoe UI"/>
              </a:defRPr>
            </a:pPr>
            <a:r>
              <a:t>Statistically significant lift of +0.20pp</a:t>
            </a:r>
          </a:p>
          <a:p>
            <a:pPr>
              <a:defRPr sz="900">
                <a:solidFill>
                  <a:srgbClr val="333333"/>
                </a:solidFill>
                <a:latin typeface="Segoe UI"/>
              </a:defRPr>
            </a:pPr>
            <a:r>
              <a:t>Persistent SRM warnings (p=0.0000) across all cohorts</a:t>
            </a:r>
          </a:p>
          <a:p>
            <a:pPr>
              <a:defRPr sz="900">
                <a:solidFill>
                  <a:srgbClr val="333333"/>
                </a:solidFill>
                <a:latin typeface="Segoe UI"/>
              </a:defRPr>
            </a:pPr>
            <a:r>
              <a:t>Largest campaign by volume — consider SRM investigation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03320"/>
            <a:ext cx="11612880" cy="274320"/>
          </a:xfrm>
          <a:prstGeom prst="rect">
            <a:avLst/>
          </a:prstGeom>
          <a:solidFill>
            <a:srgbClr val="005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703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VDA — Black Friday</a:t>
            </a:r>
          </a:p>
        </p:txBody>
      </p:sp>
      <p:pic>
        <p:nvPicPr>
          <p:cNvPr id="16" name="Picture 15" descr="VDA_vintage_pri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069080"/>
            <a:ext cx="5943600" cy="210312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583680" y="4069080"/>
            <a:ext cx="1645920" cy="82296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7AFBF"/>
                </a:solidFill>
                <a:latin typeface="Segoe UI"/>
              </a:defRPr>
            </a:pPr>
            <a:r>
              <a:t>+0.32pp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Lift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4069080"/>
            <a:ext cx="1645920" cy="82296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0.80%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Action 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0" y="4069080"/>
            <a:ext cx="1645920" cy="82296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0.48%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Control Rate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5029200"/>
            <a:ext cx="1645920" cy="82296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7AFBF"/>
                </a:solidFill>
                <a:latin typeface="Segoe UI"/>
              </a:defRPr>
            </a:pPr>
            <a:r>
              <a:t>0.0001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p-value</a:t>
            </a:r>
          </a:p>
          <a:p>
            <a:pPr algn="ctr">
              <a:defRPr sz="800">
                <a:solidFill>
                  <a:srgbClr val="999999"/>
                </a:solidFill>
                <a:latin typeface="Segoe UI"/>
              </a:defRPr>
            </a:pPr>
            <a:r>
              <a:t>***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5029200"/>
            <a:ext cx="3474720" cy="82296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59,211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Clients (Action)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8978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  <a:latin typeface="Segoe UI"/>
              </a:defRPr>
            </a:pPr>
            <a:r>
              <a:t>Statistically significant lift of +0.32pp</a:t>
            </a:r>
          </a:p>
          <a:p>
            <a:pPr>
              <a:defRPr sz="900">
                <a:solidFill>
                  <a:srgbClr val="333333"/>
                </a:solidFill>
                <a:latin typeface="Segoe UI"/>
              </a:defRPr>
            </a:pPr>
            <a:r>
              <a:t>Seasonal campaign (Black Friday) — strong but time-limited</a:t>
            </a:r>
          </a:p>
          <a:p>
            <a:pPr>
              <a:defRPr sz="900">
                <a:solidFill>
                  <a:srgbClr val="333333"/>
                </a:solidFill>
                <a:latin typeface="Segoe UI"/>
              </a:defRPr>
            </a:pPr>
            <a:r>
              <a:t>Highest lift among acquisition campaigns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3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Activation &amp;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37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E7EEF1"/>
                </a:solidFill>
                <a:latin typeface="Segoe UI"/>
              </a:defRPr>
            </a:pPr>
            <a:r>
              <a:t>VDT — Activation Trigger | VUI — Usage Trigger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612880" cy="274320"/>
          </a:xfrm>
          <a:prstGeom prst="rect">
            <a:avLst/>
          </a:prstGeom>
          <a:solidFill>
            <a:srgbClr val="005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VDT — Activation Trigger</a:t>
            </a:r>
          </a:p>
        </p:txBody>
      </p:sp>
      <p:pic>
        <p:nvPicPr>
          <p:cNvPr id="7" name="Picture 6" descr="VDT_vintage_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5943600" cy="2103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0" y="1143000"/>
            <a:ext cx="1645920" cy="82296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7AFBF"/>
                </a:solidFill>
                <a:latin typeface="Segoe UI"/>
              </a:defRPr>
            </a:pPr>
            <a:r>
              <a:t>+4.10pp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Lift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143000"/>
            <a:ext cx="1645920" cy="82296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58.20%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Action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0" y="1143000"/>
            <a:ext cx="1645920" cy="82296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54.10%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Control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103120"/>
            <a:ext cx="1645920" cy="82296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7AFBF"/>
                </a:solidFill>
                <a:latin typeface="Segoe UI"/>
              </a:defRPr>
            </a:pPr>
            <a:r>
              <a:t>0.0001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p-value</a:t>
            </a:r>
          </a:p>
          <a:p>
            <a:pPr algn="ctr">
              <a:defRPr sz="800">
                <a:solidFill>
                  <a:srgbClr val="999999"/>
                </a:solidFill>
                <a:latin typeface="Segoe UI"/>
              </a:defRPr>
            </a:pPr>
            <a:r>
              <a:t>***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103120"/>
            <a:ext cx="3474720" cy="82296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385,000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Clients (Action)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9718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  <a:latin typeface="Segoe UI"/>
              </a:defRPr>
            </a:pPr>
            <a:r>
              <a:t>Statistically significant lift of +4.10pp</a:t>
            </a:r>
          </a:p>
          <a:p>
            <a:pPr>
              <a:defRPr sz="900">
                <a:solidFill>
                  <a:srgbClr val="333333"/>
                </a:solidFill>
                <a:latin typeface="Segoe UI"/>
              </a:defRPr>
            </a:pPr>
            <a:r>
              <a:t>Only ~5% of cards need manual activation (95% auto-activate)</a:t>
            </a:r>
          </a:p>
          <a:p>
            <a:pPr>
              <a:defRPr sz="900">
                <a:solidFill>
                  <a:srgbClr val="333333"/>
                </a:solidFill>
                <a:latin typeface="Segoe UI"/>
              </a:defRPr>
            </a:pPr>
            <a:r>
              <a:t>High lift but small addressable market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03320"/>
            <a:ext cx="11612880" cy="274320"/>
          </a:xfrm>
          <a:prstGeom prst="rect">
            <a:avLst/>
          </a:prstGeom>
          <a:solidFill>
            <a:srgbClr val="005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703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VUI — Usage Trigger</a:t>
            </a:r>
          </a:p>
        </p:txBody>
      </p:sp>
      <p:pic>
        <p:nvPicPr>
          <p:cNvPr id="16" name="Picture 15" descr="VUI_vintage_pri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069080"/>
            <a:ext cx="5943600" cy="210312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583680" y="4069080"/>
            <a:ext cx="1645920" cy="82296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7AFBF"/>
                </a:solidFill>
                <a:latin typeface="Segoe UI"/>
              </a:defRPr>
            </a:pPr>
            <a:r>
              <a:t>+0.70pp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Lift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4069080"/>
            <a:ext cx="1645920" cy="82296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12.50%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Action 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0" y="4069080"/>
            <a:ext cx="1645920" cy="82296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11.80%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Control Rate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5029200"/>
            <a:ext cx="1645920" cy="82296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7AFBF"/>
                </a:solidFill>
                <a:latin typeface="Segoe UI"/>
              </a:defRPr>
            </a:pPr>
            <a:r>
              <a:t>0.0230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p-value</a:t>
            </a:r>
          </a:p>
          <a:p>
            <a:pPr algn="ctr">
              <a:defRPr sz="800">
                <a:solidFill>
                  <a:srgbClr val="999999"/>
                </a:solidFill>
                <a:latin typeface="Segoe UI"/>
              </a:defRPr>
            </a:pPr>
            <a:r>
              <a:t>*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5029200"/>
            <a:ext cx="3474720" cy="82296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1,200,000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Clients (Action)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8978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  <a:latin typeface="Segoe UI"/>
              </a:defRPr>
            </a:pPr>
            <a:r>
              <a:t>Statistically significant lift of +0.70pp</a:t>
            </a:r>
          </a:p>
          <a:p>
            <a:pPr>
              <a:defRPr sz="900">
                <a:solidFill>
                  <a:srgbClr val="333333"/>
                </a:solidFill>
                <a:latin typeface="Segoe UI"/>
              </a:defRPr>
            </a:pPr>
            <a:r>
              <a:t>Broad reach — largest usage population</a:t>
            </a:r>
          </a:p>
          <a:p>
            <a:pPr>
              <a:defRPr sz="900">
                <a:solidFill>
                  <a:srgbClr val="333333"/>
                </a:solidFill>
                <a:latin typeface="Segoe UI"/>
              </a:defRPr>
            </a:pPr>
            <a:r>
              <a:t>Marginal lift suggests optimization needed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3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Wallet Provisioning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37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E7EEF1"/>
                </a:solidFill>
                <a:latin typeface="Segoe UI"/>
              </a:defRPr>
            </a:pPr>
            <a:r>
              <a:t>VUT — Tokenization Usage | VAW — Add To Wallet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612880" cy="274320"/>
          </a:xfrm>
          <a:prstGeom prst="rect">
            <a:avLst/>
          </a:prstGeom>
          <a:solidFill>
            <a:srgbClr val="005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VUT — Tokenization Usage</a:t>
            </a:r>
          </a:p>
        </p:txBody>
      </p:sp>
      <p:pic>
        <p:nvPicPr>
          <p:cNvPr id="7" name="Picture 6" descr="VUT_vintage_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5943600" cy="2103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0" y="1143000"/>
            <a:ext cx="1645920" cy="82296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CA311"/>
                </a:solidFill>
                <a:latin typeface="Segoe UI"/>
              </a:defRPr>
            </a:pPr>
            <a:r>
              <a:t>-0.30pp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Lift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143000"/>
            <a:ext cx="1645920" cy="82296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3.10%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Action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0" y="1143000"/>
            <a:ext cx="1645920" cy="82296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3.40%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Control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103120"/>
            <a:ext cx="1645920" cy="82296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0.1500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p-value</a:t>
            </a:r>
          </a:p>
          <a:p>
            <a:pPr algn="ctr">
              <a:defRPr sz="800">
                <a:solidFill>
                  <a:srgbClr val="999999"/>
                </a:solidFill>
                <a:latin typeface="Segoe UI"/>
              </a:defRPr>
            </a:pPr>
            <a:r>
              <a:t>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103120"/>
            <a:ext cx="3474720" cy="82296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890,000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Clients (Action)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9718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  <a:latin typeface="Segoe UI"/>
              </a:defRPr>
            </a:pPr>
            <a:r>
              <a:t>Lift of -0.30pp — NOT statistically significant</a:t>
            </a:r>
          </a:p>
          <a:p>
            <a:pPr>
              <a:defRPr sz="900">
                <a:solidFill>
                  <a:srgbClr val="333333"/>
                </a:solidFill>
                <a:latin typeface="Segoe UI"/>
              </a:defRPr>
            </a:pPr>
            <a:r>
              <a:t>Negative ROI — recommend discontinuation</a:t>
            </a:r>
          </a:p>
          <a:p>
            <a:pPr>
              <a:defRPr sz="900">
                <a:solidFill>
                  <a:srgbClr val="333333"/>
                </a:solidFill>
                <a:latin typeface="Segoe UI"/>
              </a:defRPr>
            </a:pPr>
            <a:r>
              <a:t>Control performs equal or better than 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03320"/>
            <a:ext cx="11612880" cy="274320"/>
          </a:xfrm>
          <a:prstGeom prst="rect">
            <a:avLst/>
          </a:prstGeom>
          <a:solidFill>
            <a:srgbClr val="005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703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VAW — Add To Wallet</a:t>
            </a:r>
          </a:p>
        </p:txBody>
      </p:sp>
      <p:pic>
        <p:nvPicPr>
          <p:cNvPr id="16" name="Picture 15" descr="VAW_vintage_pri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069080"/>
            <a:ext cx="5943600" cy="210312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583680" y="4069080"/>
            <a:ext cx="1645920" cy="82296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7AFBF"/>
                </a:solidFill>
                <a:latin typeface="Segoe UI"/>
              </a:defRPr>
            </a:pPr>
            <a:r>
              <a:t>+1.60pp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Lift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4069080"/>
            <a:ext cx="1645920" cy="82296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5.80%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Action 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0" y="4069080"/>
            <a:ext cx="1645920" cy="82296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4.20%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Control Rate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5029200"/>
            <a:ext cx="1645920" cy="82296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7AFBF"/>
                </a:solidFill>
                <a:latin typeface="Segoe UI"/>
              </a:defRPr>
            </a:pPr>
            <a:r>
              <a:t>0.0001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p-value</a:t>
            </a:r>
          </a:p>
          <a:p>
            <a:pPr algn="ctr">
              <a:defRPr sz="800">
                <a:solidFill>
                  <a:srgbClr val="999999"/>
                </a:solidFill>
                <a:latin typeface="Segoe UI"/>
              </a:defRPr>
            </a:pPr>
            <a:r>
              <a:t>***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5029200"/>
            <a:ext cx="3474720" cy="82296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320,000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Clients (Action)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8978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  <a:latin typeface="Segoe UI"/>
              </a:defRPr>
            </a:pPr>
            <a:r>
              <a:t>Statistically significant lift of +1.60pp</a:t>
            </a:r>
          </a:p>
          <a:p>
            <a:pPr>
              <a:defRPr sz="900">
                <a:solidFill>
                  <a:srgbClr val="333333"/>
                </a:solidFill>
                <a:latin typeface="Segoe UI"/>
              </a:defRPr>
            </a:pPr>
            <a:r>
              <a:t>Positive lift at scale</a:t>
            </a:r>
          </a:p>
          <a:p>
            <a:pPr>
              <a:defRPr sz="900">
                <a:solidFill>
                  <a:srgbClr val="333333"/>
                </a:solidFill>
                <a:latin typeface="Segoe UI"/>
              </a:defRPr>
            </a:pPr>
            <a:r>
              <a:t>Consider expanding budget allocation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